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8E9B"/>
        </a:solidFill>
        <a:effectLst/>
      </p:bgPr>
    </p:bg>
    <p:spTree>
      <p:nvGrpSpPr>
        <p:cNvPr id="1" name=""/>
        <p:cNvGrpSpPr/>
        <p:nvPr/>
      </p:nvGrpSpPr>
      <p:grpSpPr/>
      <p:sp>
        <p:nvSpPr>
          <p:cNvPr id="2" name="TextBox 1"/>
          <p:cNvSpPr txBox="1"/>
          <p:nvPr/>
        </p:nvSpPr>
        <p:spPr>
          <a:xfrm>
            <a:off x="457200" y="1371600"/>
            <a:ext cx="8229600" cy="731520"/>
          </a:xfrm>
          <a:prstGeom prst="rect">
            <a:avLst/>
          </a:prstGeom>
          <a:noFill/>
        </p:spPr>
        <p:txBody>
          <a:bodyPr wrap="square">
            <a:spAutoFit/>
          </a:bodyPr>
          <a:lstStyle/>
          <a:p>
            <a:pPr algn="ctr">
              <a:defRPr sz="4400" b="1" i="0">
                <a:solidFill>
                  <a:srgbClr val="FFFFFF"/>
                </a:solidFill>
                <a:latin typeface="Inter"/>
              </a:defRPr>
            </a:pPr>
            <a:r>
              <a:t>altileo*</a:t>
            </a:r>
          </a:p>
        </p:txBody>
      </p:sp>
      <p:sp>
        <p:nvSpPr>
          <p:cNvPr id="3" name="TextBox 2"/>
          <p:cNvSpPr txBox="1"/>
          <p:nvPr/>
        </p:nvSpPr>
        <p:spPr>
          <a:xfrm>
            <a:off x="914400" y="2194560"/>
            <a:ext cx="7315200" cy="914400"/>
          </a:xfrm>
          <a:prstGeom prst="rect">
            <a:avLst/>
          </a:prstGeom>
          <a:noFill/>
        </p:spPr>
        <p:txBody>
          <a:bodyPr wrap="square">
            <a:spAutoFit/>
          </a:bodyPr>
          <a:lstStyle/>
          <a:p>
            <a:pPr algn="ctr">
              <a:spcAft>
                <a:spcPts val="200"/>
              </a:spcAft>
              <a:defRPr sz="1600" b="0" i="0">
                <a:solidFill>
                  <a:srgbClr val="FFFFFF"/>
                </a:solidFill>
                <a:latin typeface="Inter"/>
              </a:defRPr>
            </a:pPr>
            <a:r>
              <a:t>Rendre les installations frigorifiques pilotables</a:t>
            </a:r>
          </a:p>
          <a:p>
            <a:pPr algn="ctr">
              <a:spcAft>
                <a:spcPts val="200"/>
              </a:spcAft>
              <a:defRPr sz="1600" b="0" i="0">
                <a:solidFill>
                  <a:srgbClr val="FFFFFF"/>
                </a:solidFill>
                <a:latin typeface="Inter"/>
              </a:defRPr>
            </a:pPr>
            <a:r>
              <a:t>pour qu'elles profitent des prix Spot</a:t>
            </a:r>
          </a:p>
        </p:txBody>
      </p:sp>
      <p:sp>
        <p:nvSpPr>
          <p:cNvPr id="4" name="Rectangle 3"/>
          <p:cNvSpPr/>
          <p:nvPr/>
        </p:nvSpPr>
        <p:spPr>
          <a:xfrm>
            <a:off x="3474720" y="3291840"/>
            <a:ext cx="219456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66160"/>
            <a:ext cx="7315200" cy="914400"/>
          </a:xfrm>
          <a:prstGeom prst="rect">
            <a:avLst/>
          </a:prstGeom>
          <a:noFill/>
        </p:spPr>
        <p:txBody>
          <a:bodyPr wrap="square">
            <a:spAutoFit/>
          </a:bodyPr>
          <a:lstStyle/>
          <a:p>
            <a:pPr algn="ctr">
              <a:spcAft>
                <a:spcPts val="200"/>
              </a:spcAft>
              <a:defRPr sz="1300" b="1" i="0">
                <a:solidFill>
                  <a:srgbClr val="FFFFFF"/>
                </a:solidFill>
                <a:latin typeface="Inter"/>
              </a:defRPr>
            </a:pPr>
            <a:r>
              <a:t>Point Partenariat — Altileo × Sobry</a:t>
            </a:r>
          </a:p>
          <a:p>
            <a:pPr algn="ctr">
              <a:spcAft>
                <a:spcPts val="200"/>
              </a:spcAft>
              <a:defRPr sz="1000" b="0" i="0">
                <a:solidFill>
                  <a:srgbClr val="AEC2D2"/>
                </a:solidFill>
                <a:latin typeface="Inter"/>
              </a:defRPr>
            </a:pPr>
            <a:r>
              <a:t>Juillet 2026 | Confidentiel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457200" y="274320"/>
            <a:ext cx="8229600" cy="274320"/>
          </a:xfrm>
          <a:prstGeom prst="rect">
            <a:avLst/>
          </a:prstGeom>
          <a:noFill/>
        </p:spPr>
        <p:txBody>
          <a:bodyPr wrap="square">
            <a:spAutoFit/>
          </a:bodyPr>
          <a:lstStyle/>
          <a:p>
            <a:pPr algn="l">
              <a:defRPr sz="1100" b="1" i="0">
                <a:solidFill>
                  <a:srgbClr val="0E8E9B"/>
                </a:solidFill>
                <a:latin typeface="Inter"/>
              </a:defRPr>
            </a:pPr>
            <a:r>
              <a:t>PREUVE PAR LA MESURE</a:t>
            </a:r>
          </a:p>
        </p:txBody>
      </p:sp>
      <p:sp>
        <p:nvSpPr>
          <p:cNvPr id="3" name="TextBox 2"/>
          <p:cNvSpPr txBox="1"/>
          <p:nvPr/>
        </p:nvSpPr>
        <p:spPr>
          <a:xfrm>
            <a:off x="457200" y="548640"/>
            <a:ext cx="8229600" cy="502920"/>
          </a:xfrm>
          <a:prstGeom prst="rect">
            <a:avLst/>
          </a:prstGeom>
          <a:noFill/>
        </p:spPr>
        <p:txBody>
          <a:bodyPr wrap="square">
            <a:spAutoFit/>
          </a:bodyPr>
          <a:lstStyle/>
          <a:p>
            <a:pPr algn="l">
              <a:defRPr sz="2800" b="1" i="0">
                <a:solidFill>
                  <a:srgbClr val="111827"/>
                </a:solidFill>
                <a:latin typeface="Inter"/>
              </a:defRPr>
            </a:pPr>
            <a:r>
              <a:t>1. Ce qu'on a prouvé à Rungis</a:t>
            </a:r>
          </a:p>
        </p:txBody>
      </p:sp>
      <p:sp>
        <p:nvSpPr>
          <p:cNvPr id="4" name="TextBox 3"/>
          <p:cNvSpPr txBox="1"/>
          <p:nvPr/>
        </p:nvSpPr>
        <p:spPr>
          <a:xfrm>
            <a:off x="457200" y="1097280"/>
            <a:ext cx="4114800" cy="274320"/>
          </a:xfrm>
          <a:prstGeom prst="rect">
            <a:avLst/>
          </a:prstGeom>
          <a:noFill/>
        </p:spPr>
        <p:txBody>
          <a:bodyPr wrap="square">
            <a:spAutoFit/>
          </a:bodyPr>
          <a:lstStyle/>
          <a:p>
            <a:pPr algn="l">
              <a:defRPr sz="1200" b="1" i="0">
                <a:solidFill>
                  <a:srgbClr val="0F3D62"/>
                </a:solidFill>
                <a:latin typeface="Inter"/>
              </a:defRPr>
            </a:pPr>
            <a:r>
              <a:t>L'audit instrumenté (4 semaines)</a:t>
            </a:r>
          </a:p>
        </p:txBody>
      </p:sp>
      <p:sp>
        <p:nvSpPr>
          <p:cNvPr id="5" name="TextBox 4"/>
          <p:cNvSpPr txBox="1"/>
          <p:nvPr/>
        </p:nvSpPr>
        <p:spPr>
          <a:xfrm>
            <a:off x="457200" y="1417320"/>
            <a:ext cx="4114800" cy="2468880"/>
          </a:xfrm>
          <a:prstGeom prst="rect">
            <a:avLst/>
          </a:prstGeom>
          <a:noFill/>
        </p:spPr>
        <p:txBody>
          <a:bodyPr wrap="square">
            <a:spAutoFit/>
          </a:bodyPr>
          <a:lstStyle/>
          <a:p>
            <a:pPr>
              <a:spcBef>
                <a:spcPts val="200"/>
              </a:spcBef>
              <a:spcAft>
                <a:spcPts val="400"/>
              </a:spcAft>
            </a:pPr>
            <a:r>
              <a:rPr sz="1000">
                <a:solidFill>
                  <a:srgbClr val="0E8E9B"/>
                </a:solidFill>
                <a:latin typeface="Inter"/>
              </a:rPr>
              <a:t>•  </a:t>
            </a:r>
            <a:r>
              <a:rPr sz="1000" b="1">
                <a:solidFill>
                  <a:srgbClr val="111827"/>
                </a:solidFill>
                <a:latin typeface="Inter"/>
              </a:rPr>
              <a:t>Site : </a:t>
            </a:r>
            <a:r>
              <a:rPr sz="1000">
                <a:solidFill>
                  <a:srgbClr val="111827"/>
                </a:solidFill>
                <a:latin typeface="Inter"/>
              </a:rPr>
              <a:t>Chambre négative (−21 °C, 30 m²) chez Les Vergers des Cèdres, MIN de Rungis.</a:t>
            </a:r>
          </a:p>
          <a:p>
            <a:pPr>
              <a:spcBef>
                <a:spcPts val="200"/>
              </a:spcBef>
              <a:spcAft>
                <a:spcPts val="400"/>
              </a:spcAft>
            </a:pPr>
            <a:r>
              <a:rPr sz="1000">
                <a:solidFill>
                  <a:srgbClr val="0E8E9B"/>
                </a:solidFill>
                <a:latin typeface="Inter"/>
              </a:rPr>
              <a:t>•  </a:t>
            </a:r>
            <a:r>
              <a:rPr sz="1000" b="1">
                <a:solidFill>
                  <a:srgbClr val="111827"/>
                </a:solidFill>
                <a:latin typeface="Inter"/>
              </a:rPr>
              <a:t>Instrumentation : </a:t>
            </a:r>
            <a:r>
              <a:rPr sz="1000">
                <a:solidFill>
                  <a:srgbClr val="111827"/>
                </a:solidFill>
                <a:latin typeface="Inter"/>
              </a:rPr>
              <a:t>Capteurs IoT température, courant et ouverture de portes posés par nos soins.</a:t>
            </a:r>
          </a:p>
          <a:p>
            <a:pPr>
              <a:spcBef>
                <a:spcPts val="200"/>
              </a:spcBef>
              <a:spcAft>
                <a:spcPts val="400"/>
              </a:spcAft>
            </a:pPr>
            <a:r>
              <a:rPr sz="1000">
                <a:solidFill>
                  <a:srgbClr val="0E8E9B"/>
                </a:solidFill>
                <a:latin typeface="Inter"/>
              </a:rPr>
              <a:t>•  </a:t>
            </a:r>
            <a:r>
              <a:rPr sz="1000" b="1">
                <a:solidFill>
                  <a:srgbClr val="111827"/>
                </a:solidFill>
                <a:latin typeface="Inter"/>
              </a:rPr>
              <a:t>Test de délestage : </a:t>
            </a:r>
            <a:r>
              <a:rPr sz="1000">
                <a:solidFill>
                  <a:srgbClr val="111827"/>
                </a:solidFill>
                <a:latin typeface="Inter"/>
              </a:rPr>
              <a:t>Coupure compresseur de 3h52 en conditions réelles d'exploitation.</a:t>
            </a:r>
          </a:p>
          <a:p>
            <a:pPr>
              <a:spcBef>
                <a:spcPts val="200"/>
              </a:spcBef>
              <a:spcAft>
                <a:spcPts val="400"/>
              </a:spcAft>
            </a:pPr>
            <a:r>
              <a:rPr sz="1000">
                <a:solidFill>
                  <a:srgbClr val="0E8E9B"/>
                </a:solidFill>
                <a:latin typeface="Inter"/>
              </a:rPr>
              <a:t>•  </a:t>
            </a:r>
            <a:r>
              <a:rPr sz="1000" b="1">
                <a:solidFill>
                  <a:srgbClr val="111827"/>
                </a:solidFill>
                <a:latin typeface="Inter"/>
              </a:rPr>
              <a:t>Résultat physique : </a:t>
            </a:r>
            <a:r>
              <a:rPr sz="1000">
                <a:solidFill>
                  <a:srgbClr val="111827"/>
                </a:solidFill>
                <a:latin typeface="Inter"/>
              </a:rPr>
              <a:t>Réchauffement produit de seulement +0,21 °C/h. Conformité HACCP maintenue à 100 %.</a:t>
            </a:r>
          </a:p>
          <a:p>
            <a:pPr>
              <a:spcBef>
                <a:spcPts val="200"/>
              </a:spcBef>
              <a:spcAft>
                <a:spcPts val="400"/>
              </a:spcAft>
            </a:pPr>
            <a:r>
              <a:rPr sz="1000">
                <a:solidFill>
                  <a:srgbClr val="0E8E9B"/>
                </a:solidFill>
                <a:latin typeface="Inter"/>
              </a:rPr>
              <a:t>•  </a:t>
            </a:r>
            <a:r>
              <a:rPr sz="1000" b="1">
                <a:solidFill>
                  <a:srgbClr val="111827"/>
                </a:solidFill>
                <a:latin typeface="Inter"/>
              </a:rPr>
              <a:t>Conclusion : </a:t>
            </a:r>
            <a:r>
              <a:rPr sz="1000">
                <a:solidFill>
                  <a:srgbClr val="111827"/>
                </a:solidFill>
                <a:latin typeface="Inter"/>
              </a:rPr>
              <a:t>Jusqu'à 6h de délestage/jour validées sans risque, en dehors des heures de travail.</a:t>
            </a:r>
          </a:p>
        </p:txBody>
      </p:sp>
      <p:sp>
        <p:nvSpPr>
          <p:cNvPr id="6" name="TextBox 5"/>
          <p:cNvSpPr txBox="1"/>
          <p:nvPr/>
        </p:nvSpPr>
        <p:spPr>
          <a:xfrm>
            <a:off x="4846320" y="1097280"/>
            <a:ext cx="4114800" cy="274320"/>
          </a:xfrm>
          <a:prstGeom prst="rect">
            <a:avLst/>
          </a:prstGeom>
          <a:noFill/>
        </p:spPr>
        <p:txBody>
          <a:bodyPr wrap="square">
            <a:spAutoFit/>
          </a:bodyPr>
          <a:lstStyle/>
          <a:p>
            <a:pPr algn="l">
              <a:defRPr sz="1200" b="1" i="0">
                <a:solidFill>
                  <a:srgbClr val="0F3D62"/>
                </a:solidFill>
                <a:latin typeface="Inter"/>
              </a:defRPr>
            </a:pPr>
            <a:r>
              <a:t>Simulation financière sur données Sobry 2025</a:t>
            </a:r>
          </a:p>
        </p:txBody>
      </p:sp>
      <p:sp>
        <p:nvSpPr>
          <p:cNvPr id="7" name="TextBox 6"/>
          <p:cNvSpPr txBox="1"/>
          <p:nvPr/>
        </p:nvSpPr>
        <p:spPr>
          <a:xfrm>
            <a:off x="4846320" y="1417320"/>
            <a:ext cx="3931920" cy="594360"/>
          </a:xfrm>
          <a:prstGeom prst="rect">
            <a:avLst/>
          </a:prstGeom>
          <a:noFill/>
        </p:spPr>
        <p:txBody>
          <a:bodyPr wrap="square">
            <a:spAutoFit/>
          </a:bodyPr>
          <a:lstStyle/>
          <a:p>
            <a:pPr algn="l">
              <a:defRPr sz="950" b="0" i="0">
                <a:solidFill>
                  <a:srgbClr val="111827"/>
                </a:solidFill>
                <a:latin typeface="Inter"/>
              </a:defRPr>
            </a:pPr>
            <a:r>
              <a:t>Simulation sur l'année 2025 complète, à partir de l'historique horaire des prix Spot fourni par Sobry (marge 8 % incluse), comparé au tarif réglementé HP/HC du site.</a:t>
            </a:r>
          </a:p>
        </p:txBody>
      </p:sp>
      <p:sp>
        <p:nvSpPr>
          <p:cNvPr id="8" name="Rectangle 7"/>
          <p:cNvSpPr/>
          <p:nvPr/>
        </p:nvSpPr>
        <p:spPr>
          <a:xfrm>
            <a:off x="4846320" y="2103120"/>
            <a:ext cx="18288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2121408"/>
            <a:ext cx="1737360" cy="320040"/>
          </a:xfrm>
          <a:prstGeom prst="rect">
            <a:avLst/>
          </a:prstGeom>
          <a:noFill/>
        </p:spPr>
        <p:txBody>
          <a:bodyPr wrap="square">
            <a:spAutoFit/>
          </a:bodyPr>
          <a:lstStyle/>
          <a:p>
            <a:pPr algn="ctr">
              <a:defRPr sz="1800" b="1" i="0">
                <a:solidFill>
                  <a:srgbClr val="0E8E9B"/>
                </a:solidFill>
                <a:latin typeface="Inter"/>
              </a:defRPr>
            </a:pPr>
            <a:r>
              <a:t>35,6 %</a:t>
            </a:r>
          </a:p>
        </p:txBody>
      </p:sp>
      <p:sp>
        <p:nvSpPr>
          <p:cNvPr id="10" name="TextBox 9"/>
          <p:cNvSpPr txBox="1"/>
          <p:nvPr/>
        </p:nvSpPr>
        <p:spPr>
          <a:xfrm>
            <a:off x="4892040" y="2423160"/>
            <a:ext cx="1737360" cy="228600"/>
          </a:xfrm>
          <a:prstGeom prst="rect">
            <a:avLst/>
          </a:prstGeom>
          <a:noFill/>
        </p:spPr>
        <p:txBody>
          <a:bodyPr wrap="square">
            <a:spAutoFit/>
          </a:bodyPr>
          <a:lstStyle/>
          <a:p>
            <a:pPr algn="ctr">
              <a:defRPr sz="700" b="0" i="0">
                <a:solidFill>
                  <a:srgbClr val="667085"/>
                </a:solidFill>
                <a:latin typeface="Inter"/>
              </a:defRPr>
            </a:pPr>
            <a:r>
              <a:t>Économies nettes (Spot+Altileo vs HP/HC)</a:t>
            </a:r>
          </a:p>
        </p:txBody>
      </p:sp>
      <p:sp>
        <p:nvSpPr>
          <p:cNvPr id="11" name="Rectangle 10"/>
          <p:cNvSpPr/>
          <p:nvPr/>
        </p:nvSpPr>
        <p:spPr>
          <a:xfrm>
            <a:off x="6858000" y="2103120"/>
            <a:ext cx="18288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2121408"/>
            <a:ext cx="1737360" cy="320040"/>
          </a:xfrm>
          <a:prstGeom prst="rect">
            <a:avLst/>
          </a:prstGeom>
          <a:noFill/>
        </p:spPr>
        <p:txBody>
          <a:bodyPr wrap="square">
            <a:spAutoFit/>
          </a:bodyPr>
          <a:lstStyle/>
          <a:p>
            <a:pPr algn="ctr">
              <a:defRPr sz="1800" b="1" i="0">
                <a:solidFill>
                  <a:srgbClr val="0E8E9B"/>
                </a:solidFill>
                <a:latin typeface="Inter"/>
              </a:defRPr>
            </a:pPr>
            <a:r>
              <a:t>~203 €/mois</a:t>
            </a:r>
          </a:p>
        </p:txBody>
      </p:sp>
      <p:sp>
        <p:nvSpPr>
          <p:cNvPr id="13" name="TextBox 12"/>
          <p:cNvSpPr txBox="1"/>
          <p:nvPr/>
        </p:nvSpPr>
        <p:spPr>
          <a:xfrm>
            <a:off x="6903720" y="2423160"/>
            <a:ext cx="1737360" cy="228600"/>
          </a:xfrm>
          <a:prstGeom prst="rect">
            <a:avLst/>
          </a:prstGeom>
          <a:noFill/>
        </p:spPr>
        <p:txBody>
          <a:bodyPr wrap="square">
            <a:spAutoFit/>
          </a:bodyPr>
          <a:lstStyle/>
          <a:p>
            <a:pPr algn="ctr">
              <a:defRPr sz="700" b="0" i="0">
                <a:solidFill>
                  <a:srgbClr val="667085"/>
                </a:solidFill>
                <a:latin typeface="Inter"/>
              </a:defRPr>
            </a:pPr>
            <a:r>
              <a:t>Gain net mensuel (1 chambre)</a:t>
            </a:r>
          </a:p>
        </p:txBody>
      </p:sp>
      <p:sp>
        <p:nvSpPr>
          <p:cNvPr id="14" name="TextBox 13"/>
          <p:cNvSpPr txBox="1"/>
          <p:nvPr/>
        </p:nvSpPr>
        <p:spPr>
          <a:xfrm>
            <a:off x="4846320" y="2834640"/>
            <a:ext cx="3931920" cy="502920"/>
          </a:xfrm>
          <a:prstGeom prst="rect">
            <a:avLst/>
          </a:prstGeom>
          <a:noFill/>
        </p:spPr>
        <p:txBody>
          <a:bodyPr wrap="square">
            <a:spAutoFit/>
          </a:bodyPr>
          <a:lstStyle/>
          <a:p>
            <a:pPr algn="l">
              <a:defRPr sz="850" b="0" i="1">
                <a:solidFill>
                  <a:srgbClr val="667085"/>
                </a:solidFill>
                <a:latin typeface="Inter"/>
              </a:defRPr>
            </a:pPr>
            <a:r>
              <a:t>Note : ces chiffres correspondent à un site, une configuration. Chaque installation est différente. C'est pour ça qu'on ne promet rien sans avoir mesuré.</a:t>
            </a:r>
          </a:p>
        </p:txBody>
      </p:sp>
      <p:sp>
        <p:nvSpPr>
          <p:cNvPr id="15" name="Rectangle 14"/>
          <p:cNvSpPr/>
          <p:nvPr/>
        </p:nvSpPr>
        <p:spPr>
          <a:xfrm>
            <a:off x="457200" y="3474720"/>
            <a:ext cx="82296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20440"/>
            <a:ext cx="7863840" cy="182880"/>
          </a:xfrm>
          <a:prstGeom prst="rect">
            <a:avLst/>
          </a:prstGeom>
          <a:noFill/>
        </p:spPr>
        <p:txBody>
          <a:bodyPr wrap="square">
            <a:spAutoFit/>
          </a:bodyPr>
          <a:lstStyle/>
          <a:p>
            <a:pPr algn="l">
              <a:defRPr sz="1000" b="1" i="0">
                <a:solidFill>
                  <a:srgbClr val="0F3D62"/>
                </a:solidFill>
                <a:latin typeface="Inter"/>
              </a:defRPr>
            </a:pPr>
            <a:r>
              <a:t>Ce que l'audit a aussi montré :</a:t>
            </a:r>
          </a:p>
        </p:txBody>
      </p:sp>
      <p:sp>
        <p:nvSpPr>
          <p:cNvPr id="17" name="TextBox 16"/>
          <p:cNvSpPr txBox="1"/>
          <p:nvPr/>
        </p:nvSpPr>
        <p:spPr>
          <a:xfrm>
            <a:off x="640080" y="3749039"/>
            <a:ext cx="7863840" cy="457200"/>
          </a:xfrm>
          <a:prstGeom prst="rect">
            <a:avLst/>
          </a:prstGeom>
          <a:noFill/>
        </p:spPr>
        <p:txBody>
          <a:bodyPr wrap="square">
            <a:spAutoFit/>
          </a:bodyPr>
          <a:lstStyle/>
          <a:p>
            <a:pPr algn="l">
              <a:defRPr sz="900" b="0" i="0">
                <a:solidFill>
                  <a:srgbClr val="111827"/>
                </a:solidFill>
                <a:latin typeface="Inter"/>
              </a:defRPr>
            </a:pPr>
            <a:r>
              <a:t>En février 2025, un contrat Spot brut (sans pilotage) était perdant face au HP/HC classique (633 € vs 583 €). Avec le délestage Altileo, la facture tombe à 507 €. Sans pilotage, le Spot est un risque. Avec Altileo, c'est un levier.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457200" y="274320"/>
            <a:ext cx="8229600" cy="274320"/>
          </a:xfrm>
          <a:prstGeom prst="rect">
            <a:avLst/>
          </a:prstGeom>
          <a:noFill/>
        </p:spPr>
        <p:txBody>
          <a:bodyPr wrap="square">
            <a:spAutoFit/>
          </a:bodyPr>
          <a:lstStyle/>
          <a:p>
            <a:pPr algn="l">
              <a:defRPr sz="1100" b="1" i="0">
                <a:solidFill>
                  <a:srgbClr val="0E8E9B"/>
                </a:solidFill>
                <a:latin typeface="Inter"/>
              </a:defRPr>
            </a:pPr>
            <a:r>
              <a:t>PROPOSITION COMMERCIALE</a:t>
            </a:r>
          </a:p>
        </p:txBody>
      </p:sp>
      <p:sp>
        <p:nvSpPr>
          <p:cNvPr id="3" name="TextBox 2"/>
          <p:cNvSpPr txBox="1"/>
          <p:nvPr/>
        </p:nvSpPr>
        <p:spPr>
          <a:xfrm>
            <a:off x="457200" y="548640"/>
            <a:ext cx="8229600" cy="502920"/>
          </a:xfrm>
          <a:prstGeom prst="rect">
            <a:avLst/>
          </a:prstGeom>
          <a:noFill/>
        </p:spPr>
        <p:txBody>
          <a:bodyPr wrap="square">
            <a:spAutoFit/>
          </a:bodyPr>
          <a:lstStyle/>
          <a:p>
            <a:pPr algn="l">
              <a:defRPr sz="2800" b="1" i="0">
                <a:solidFill>
                  <a:srgbClr val="111827"/>
                </a:solidFill>
                <a:latin typeface="Inter"/>
              </a:defRPr>
            </a:pPr>
            <a:r>
              <a:t>2. Ce qu'on propose à Sobry</a:t>
            </a:r>
          </a:p>
        </p:txBody>
      </p:sp>
      <p:sp>
        <p:nvSpPr>
          <p:cNvPr id="4" name="TextBox 3"/>
          <p:cNvSpPr txBox="1"/>
          <p:nvPr/>
        </p:nvSpPr>
        <p:spPr>
          <a:xfrm>
            <a:off x="457200" y="1051560"/>
            <a:ext cx="8229600" cy="365760"/>
          </a:xfrm>
          <a:prstGeom prst="rect">
            <a:avLst/>
          </a:prstGeom>
          <a:noFill/>
        </p:spPr>
        <p:txBody>
          <a:bodyPr wrap="square">
            <a:spAutoFit/>
          </a:bodyPr>
          <a:lstStyle/>
          <a:p>
            <a:pPr algn="l">
              <a:defRPr sz="1000" b="0" i="0">
                <a:solidFill>
                  <a:srgbClr val="111827"/>
                </a:solidFill>
                <a:latin typeface="Inter"/>
              </a:defRPr>
            </a:pPr>
            <a:r>
              <a:t>Sobry propose un diagnostic énergétique Altileo gratuit à ses prospects industriels qui hésitent à passer au Spot. Pour chaque client converti, Sobry touche 5 % d'apport d'affaires.</a:t>
            </a:r>
          </a:p>
        </p:txBody>
      </p:sp>
      <p:sp>
        <p:nvSpPr>
          <p:cNvPr id="5" name="Rectangle 4"/>
          <p:cNvSpPr/>
          <p:nvPr/>
        </p:nvSpPr>
        <p:spPr>
          <a:xfrm>
            <a:off x="457200" y="1508760"/>
            <a:ext cx="2606040" cy="274320"/>
          </a:xfrm>
          <a:prstGeom prst="rect">
            <a:avLst/>
          </a:prstGeom>
          <a:solidFill>
            <a:srgbClr val="0E8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08760"/>
            <a:ext cx="2514600" cy="274320"/>
          </a:xfrm>
          <a:prstGeom prst="rect">
            <a:avLst/>
          </a:prstGeom>
          <a:noFill/>
        </p:spPr>
        <p:txBody>
          <a:bodyPr wrap="square">
            <a:spAutoFit/>
          </a:bodyPr>
          <a:lstStyle/>
          <a:p>
            <a:pPr algn="ctr">
              <a:defRPr sz="900" b="1" i="0">
                <a:solidFill>
                  <a:srgbClr val="FFFFFF"/>
                </a:solidFill>
                <a:latin typeface="Inter"/>
              </a:defRPr>
            </a:pPr>
            <a:r>
              <a:t>Étape 1 — Sobry prescrit l'audit</a:t>
            </a:r>
          </a:p>
        </p:txBody>
      </p:sp>
      <p:sp>
        <p:nvSpPr>
          <p:cNvPr id="7" name="Rectangle 6"/>
          <p:cNvSpPr/>
          <p:nvPr/>
        </p:nvSpPr>
        <p:spPr>
          <a:xfrm>
            <a:off x="457200" y="1783080"/>
            <a:ext cx="260604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800"/>
            <a:ext cx="2423160" cy="1097280"/>
          </a:xfrm>
          <a:prstGeom prst="rect">
            <a:avLst/>
          </a:prstGeom>
          <a:noFill/>
        </p:spPr>
        <p:txBody>
          <a:bodyPr wrap="square">
            <a:spAutoFit/>
          </a:bodyPr>
          <a:lstStyle/>
          <a:p>
            <a:pPr algn="l">
              <a:defRPr sz="900" b="0" i="0">
                <a:solidFill>
                  <a:srgbClr val="111827"/>
                </a:solidFill>
                <a:latin typeface="Inter"/>
              </a:defRPr>
            </a:pPr>
            <a:r>
              <a:t>Votre commercial identifie un prospect avec des installations frigorifiques et lui propose un audit énergétique Altileo. L'audit est entièrement pris en charge par Altileo. Sobry n'engage rien.</a:t>
            </a:r>
          </a:p>
        </p:txBody>
      </p:sp>
      <p:sp>
        <p:nvSpPr>
          <p:cNvPr id="9" name="Rectangle 8"/>
          <p:cNvSpPr/>
          <p:nvPr/>
        </p:nvSpPr>
        <p:spPr>
          <a:xfrm>
            <a:off x="3291840" y="1508760"/>
            <a:ext cx="2606040" cy="274320"/>
          </a:xfrm>
          <a:prstGeom prst="rect">
            <a:avLst/>
          </a:prstGeom>
          <a:solidFill>
            <a:srgbClr val="0E8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508760"/>
            <a:ext cx="2514600" cy="274320"/>
          </a:xfrm>
          <a:prstGeom prst="rect">
            <a:avLst/>
          </a:prstGeom>
          <a:noFill/>
        </p:spPr>
        <p:txBody>
          <a:bodyPr wrap="square">
            <a:spAutoFit/>
          </a:bodyPr>
          <a:lstStyle/>
          <a:p>
            <a:pPr algn="ctr">
              <a:defRPr sz="900" b="1" i="0">
                <a:solidFill>
                  <a:srgbClr val="FFFFFF"/>
                </a:solidFill>
                <a:latin typeface="Inter"/>
              </a:defRPr>
            </a:pPr>
            <a:r>
              <a:t>Étape 2 — Altileo instrumente</a:t>
            </a:r>
          </a:p>
        </p:txBody>
      </p:sp>
      <p:sp>
        <p:nvSpPr>
          <p:cNvPr id="11" name="Rectangle 10"/>
          <p:cNvSpPr/>
          <p:nvPr/>
        </p:nvSpPr>
        <p:spPr>
          <a:xfrm>
            <a:off x="3291840" y="1783080"/>
            <a:ext cx="260604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828800"/>
            <a:ext cx="2423160" cy="1097280"/>
          </a:xfrm>
          <a:prstGeom prst="rect">
            <a:avLst/>
          </a:prstGeom>
          <a:noFill/>
        </p:spPr>
        <p:txBody>
          <a:bodyPr wrap="square">
            <a:spAutoFit/>
          </a:bodyPr>
          <a:lstStyle/>
          <a:p>
            <a:pPr algn="l">
              <a:defRPr sz="900" b="0" i="0">
                <a:solidFill>
                  <a:srgbClr val="111827"/>
                </a:solidFill>
                <a:latin typeface="Inter"/>
              </a:defRPr>
            </a:pPr>
            <a:r>
              <a:t>Nos ingénieurs posent les capteurs IoT pendant 4 semaines. On mesure la conso électrique, l'inertie thermique réelle et on chiffre le potentiel d'économies au Spot. C'est Altileo qui décide si le site est éligible.</a:t>
            </a:r>
          </a:p>
        </p:txBody>
      </p:sp>
      <p:sp>
        <p:nvSpPr>
          <p:cNvPr id="13" name="Rectangle 12"/>
          <p:cNvSpPr/>
          <p:nvPr/>
        </p:nvSpPr>
        <p:spPr>
          <a:xfrm>
            <a:off x="6126480" y="1508760"/>
            <a:ext cx="2606040" cy="274320"/>
          </a:xfrm>
          <a:prstGeom prst="rect">
            <a:avLst/>
          </a:prstGeom>
          <a:solidFill>
            <a:srgbClr val="0E8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508760"/>
            <a:ext cx="2514600" cy="274320"/>
          </a:xfrm>
          <a:prstGeom prst="rect">
            <a:avLst/>
          </a:prstGeom>
          <a:noFill/>
        </p:spPr>
        <p:txBody>
          <a:bodyPr wrap="square">
            <a:spAutoFit/>
          </a:bodyPr>
          <a:lstStyle/>
          <a:p>
            <a:pPr algn="ctr">
              <a:defRPr sz="900" b="1" i="0">
                <a:solidFill>
                  <a:srgbClr val="FFFFFF"/>
                </a:solidFill>
                <a:latin typeface="Inter"/>
              </a:defRPr>
            </a:pPr>
            <a:r>
              <a:t>Étape 3 — Double signature</a:t>
            </a:r>
          </a:p>
        </p:txBody>
      </p:sp>
      <p:sp>
        <p:nvSpPr>
          <p:cNvPr id="15" name="Rectangle 14"/>
          <p:cNvSpPr/>
          <p:nvPr/>
        </p:nvSpPr>
        <p:spPr>
          <a:xfrm>
            <a:off x="6126480" y="1783080"/>
            <a:ext cx="260604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828800"/>
            <a:ext cx="2423160" cy="1097280"/>
          </a:xfrm>
          <a:prstGeom prst="rect">
            <a:avLst/>
          </a:prstGeom>
          <a:noFill/>
        </p:spPr>
        <p:txBody>
          <a:bodyPr wrap="square">
            <a:spAutoFit/>
          </a:bodyPr>
          <a:lstStyle/>
          <a:p>
            <a:pPr algn="l">
              <a:defRPr sz="900" b="0" i="0">
                <a:solidFill>
                  <a:srgbClr val="111827"/>
                </a:solidFill>
                <a:latin typeface="Inter"/>
              </a:defRPr>
            </a:pPr>
            <a:r>
              <a:t>Si les résultats valident le délestage : le client signe son contrat Spot Sobry et installe l'Altileo Box. Commission de 5 % pour Sobry sur la vente Altileo. Chacun son métier, chacun sa facturation.</a:t>
            </a:r>
          </a:p>
        </p:txBody>
      </p:sp>
      <p:sp>
        <p:nvSpPr>
          <p:cNvPr id="17" name="Rectangle 16"/>
          <p:cNvSpPr/>
          <p:nvPr/>
        </p:nvSpPr>
        <p:spPr>
          <a:xfrm>
            <a:off x="457200" y="3154680"/>
            <a:ext cx="8229600" cy="548640"/>
          </a:xfrm>
          <a:prstGeom prst="rect">
            <a:avLst/>
          </a:prstGeom>
          <a:solidFill>
            <a:srgbClr val="0E8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172968"/>
            <a:ext cx="7863840" cy="182880"/>
          </a:xfrm>
          <a:prstGeom prst="rect">
            <a:avLst/>
          </a:prstGeom>
          <a:noFill/>
        </p:spPr>
        <p:txBody>
          <a:bodyPr wrap="square">
            <a:spAutoFit/>
          </a:bodyPr>
          <a:lstStyle/>
          <a:p>
            <a:pPr algn="l">
              <a:defRPr sz="1000" b="1" i="0">
                <a:solidFill>
                  <a:srgbClr val="FFFFFF"/>
                </a:solidFill>
                <a:latin typeface="Inter"/>
              </a:defRPr>
            </a:pPr>
            <a:r>
              <a:t>Notre règle : on ne promet rien tant qu'on n'a pas mesuré.</a:t>
            </a:r>
          </a:p>
        </p:txBody>
      </p:sp>
      <p:sp>
        <p:nvSpPr>
          <p:cNvPr id="19" name="TextBox 18"/>
          <p:cNvSpPr txBox="1"/>
          <p:nvPr/>
        </p:nvSpPr>
        <p:spPr>
          <a:xfrm>
            <a:off x="640080" y="3383280"/>
            <a:ext cx="7863840" cy="274320"/>
          </a:xfrm>
          <a:prstGeom prst="rect">
            <a:avLst/>
          </a:prstGeom>
          <a:noFill/>
        </p:spPr>
        <p:txBody>
          <a:bodyPr wrap="square">
            <a:spAutoFit/>
          </a:bodyPr>
          <a:lstStyle/>
          <a:p>
            <a:pPr algn="l">
              <a:defRPr sz="900" b="0" i="0">
                <a:solidFill>
                  <a:srgbClr val="FFFFFF"/>
                </a:solidFill>
                <a:latin typeface="Inter"/>
              </a:defRPr>
            </a:pPr>
            <a:r>
              <a:t>Si l'audit ne révèle pas un potentiel suffisant, on le dit au client et personne n'a perdu de temps. C'est cette rigueur qui protège la crédibilité de Sobry autant que la nôtre.</a:t>
            </a:r>
          </a:p>
        </p:txBody>
      </p:sp>
      <p:sp>
        <p:nvSpPr>
          <p:cNvPr id="20" name="TextBox 19"/>
          <p:cNvSpPr txBox="1"/>
          <p:nvPr/>
        </p:nvSpPr>
        <p:spPr>
          <a:xfrm>
            <a:off x="457200" y="3840480"/>
            <a:ext cx="8229600" cy="228600"/>
          </a:xfrm>
          <a:prstGeom prst="rect">
            <a:avLst/>
          </a:prstGeom>
          <a:noFill/>
        </p:spPr>
        <p:txBody>
          <a:bodyPr wrap="square">
            <a:spAutoFit/>
          </a:bodyPr>
          <a:lstStyle/>
          <a:p>
            <a:pPr algn="l">
              <a:defRPr sz="1000" b="1" i="0">
                <a:solidFill>
                  <a:srgbClr val="0F3D62"/>
                </a:solidFill>
                <a:latin typeface="Inter"/>
              </a:defRPr>
            </a:pPr>
            <a:r>
              <a:t>Ce que Sobry n'a pas à faire :</a:t>
            </a:r>
          </a:p>
        </p:txBody>
      </p:sp>
      <p:sp>
        <p:nvSpPr>
          <p:cNvPr id="21" name="TextBox 20"/>
          <p:cNvSpPr txBox="1"/>
          <p:nvPr/>
        </p:nvSpPr>
        <p:spPr>
          <a:xfrm>
            <a:off x="457200" y="4069080"/>
            <a:ext cx="8229600" cy="548640"/>
          </a:xfrm>
          <a:prstGeom prst="rect">
            <a:avLst/>
          </a:prstGeom>
          <a:noFill/>
        </p:spPr>
        <p:txBody>
          <a:bodyPr wrap="square">
            <a:spAutoFit/>
          </a:bodyPr>
          <a:lstStyle/>
          <a:p>
            <a:pPr>
              <a:spcBef>
                <a:spcPts val="200"/>
              </a:spcBef>
              <a:spcAft>
                <a:spcPts val="400"/>
              </a:spcAft>
            </a:pPr>
            <a:r>
              <a:rPr sz="1000">
                <a:solidFill>
                  <a:srgbClr val="0E8E9B"/>
                </a:solidFill>
                <a:latin typeface="Inter"/>
              </a:rPr>
              <a:t>•  </a:t>
            </a:r>
            <a:r>
              <a:rPr sz="1000">
                <a:solidFill>
                  <a:srgbClr val="111827"/>
                </a:solidFill>
                <a:latin typeface="Inter"/>
              </a:rPr>
              <a:t>Pas d'investissement matériel ou humain côté Sobry. L'audit est financé par Altileo.</a:t>
            </a:r>
          </a:p>
          <a:p>
            <a:pPr>
              <a:spcBef>
                <a:spcPts val="200"/>
              </a:spcBef>
              <a:spcAft>
                <a:spcPts val="400"/>
              </a:spcAft>
            </a:pPr>
            <a:r>
              <a:rPr sz="1000">
                <a:solidFill>
                  <a:srgbClr val="0E8E9B"/>
                </a:solidFill>
                <a:latin typeface="Inter"/>
              </a:rPr>
              <a:t>•  </a:t>
            </a:r>
            <a:r>
              <a:rPr sz="1000">
                <a:solidFill>
                  <a:srgbClr val="111827"/>
                </a:solidFill>
                <a:latin typeface="Inter"/>
              </a:rPr>
              <a:t>Pas de responsabilité technique sur l'installation frigorifique. Pas de stock, pas de SAV.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7"/>
        </a:solidFill>
        <a:effectLst/>
      </p:bgPr>
    </p:bg>
    <p:spTree>
      <p:nvGrpSpPr>
        <p:cNvPr id="1" name=""/>
        <p:cNvGrpSpPr/>
        <p:nvPr/>
      </p:nvGrpSpPr>
      <p:grpSpPr/>
      <p:sp>
        <p:nvSpPr>
          <p:cNvPr id="2" name="TextBox 1"/>
          <p:cNvSpPr txBox="1"/>
          <p:nvPr/>
        </p:nvSpPr>
        <p:spPr>
          <a:xfrm>
            <a:off x="457200" y="274320"/>
            <a:ext cx="8229600" cy="274320"/>
          </a:xfrm>
          <a:prstGeom prst="rect">
            <a:avLst/>
          </a:prstGeom>
          <a:noFill/>
        </p:spPr>
        <p:txBody>
          <a:bodyPr wrap="square">
            <a:spAutoFit/>
          </a:bodyPr>
          <a:lstStyle/>
          <a:p>
            <a:pPr algn="l">
              <a:defRPr sz="1100" b="1" i="0">
                <a:solidFill>
                  <a:srgbClr val="0E8E9B"/>
                </a:solidFill>
                <a:latin typeface="Inter"/>
              </a:defRPr>
            </a:pPr>
            <a:r>
              <a:t>BÉNÉFICES POUR SOBRY</a:t>
            </a:r>
          </a:p>
        </p:txBody>
      </p:sp>
      <p:sp>
        <p:nvSpPr>
          <p:cNvPr id="3" name="TextBox 2"/>
          <p:cNvSpPr txBox="1"/>
          <p:nvPr/>
        </p:nvSpPr>
        <p:spPr>
          <a:xfrm>
            <a:off x="457200" y="548640"/>
            <a:ext cx="8229600" cy="502920"/>
          </a:xfrm>
          <a:prstGeom prst="rect">
            <a:avLst/>
          </a:prstGeom>
          <a:noFill/>
        </p:spPr>
        <p:txBody>
          <a:bodyPr wrap="square">
            <a:spAutoFit/>
          </a:bodyPr>
          <a:lstStyle/>
          <a:p>
            <a:pPr algn="l">
              <a:defRPr sz="2800" b="1" i="0">
                <a:solidFill>
                  <a:srgbClr val="111827"/>
                </a:solidFill>
                <a:latin typeface="Inter"/>
              </a:defRPr>
            </a:pPr>
            <a:r>
              <a:t>3. Ce que Sobry y gagne concrètement</a:t>
            </a:r>
          </a:p>
        </p:txBody>
      </p:sp>
      <p:sp>
        <p:nvSpPr>
          <p:cNvPr id="4" name="TextBox 3"/>
          <p:cNvSpPr txBox="1"/>
          <p:nvPr/>
        </p:nvSpPr>
        <p:spPr>
          <a:xfrm>
            <a:off x="457200" y="1097280"/>
            <a:ext cx="4114800" cy="274320"/>
          </a:xfrm>
          <a:prstGeom prst="rect">
            <a:avLst/>
          </a:prstGeom>
          <a:noFill/>
        </p:spPr>
        <p:txBody>
          <a:bodyPr wrap="square">
            <a:spAutoFit/>
          </a:bodyPr>
          <a:lstStyle/>
          <a:p>
            <a:pPr algn="l">
              <a:defRPr sz="1200" b="1" i="0">
                <a:solidFill>
                  <a:srgbClr val="0F3D62"/>
                </a:solidFill>
                <a:latin typeface="Inter"/>
              </a:defRPr>
            </a:pPr>
            <a:r>
              <a:t>Revenus et acquisition</a:t>
            </a:r>
          </a:p>
        </p:txBody>
      </p:sp>
      <p:sp>
        <p:nvSpPr>
          <p:cNvPr id="5" name="TextBox 4"/>
          <p:cNvSpPr txBox="1"/>
          <p:nvPr/>
        </p:nvSpPr>
        <p:spPr>
          <a:xfrm>
            <a:off x="457200" y="1371600"/>
            <a:ext cx="4114800" cy="1828800"/>
          </a:xfrm>
          <a:prstGeom prst="rect">
            <a:avLst/>
          </a:prstGeom>
          <a:noFill/>
        </p:spPr>
        <p:txBody>
          <a:bodyPr wrap="square">
            <a:spAutoFit/>
          </a:bodyPr>
          <a:lstStyle/>
          <a:p>
            <a:pPr>
              <a:spcBef>
                <a:spcPts val="200"/>
              </a:spcBef>
              <a:spcAft>
                <a:spcPts val="400"/>
              </a:spcAft>
            </a:pPr>
            <a:r>
              <a:rPr sz="1000">
                <a:solidFill>
                  <a:srgbClr val="0E8E9B"/>
                </a:solidFill>
                <a:latin typeface="Inter"/>
              </a:rPr>
              <a:t>•  </a:t>
            </a:r>
            <a:r>
              <a:rPr sz="1000" b="1">
                <a:solidFill>
                  <a:srgbClr val="111827"/>
                </a:solidFill>
                <a:latin typeface="Inter"/>
              </a:rPr>
              <a:t>Commission : </a:t>
            </a:r>
            <a:r>
              <a:rPr sz="1000">
                <a:solidFill>
                  <a:srgbClr val="111827"/>
                </a:solidFill>
                <a:latin typeface="Inter"/>
              </a:rPr>
              <a:t>5 % d'apport d'affaires sur chaque vente Altileo générée par un prospect Sobry.</a:t>
            </a:r>
          </a:p>
          <a:p>
            <a:pPr>
              <a:spcBef>
                <a:spcPts val="200"/>
              </a:spcBef>
              <a:spcAft>
                <a:spcPts val="400"/>
              </a:spcAft>
            </a:pPr>
            <a:r>
              <a:rPr sz="1000">
                <a:solidFill>
                  <a:srgbClr val="0E8E9B"/>
                </a:solidFill>
                <a:latin typeface="Inter"/>
              </a:rPr>
              <a:t>•  </a:t>
            </a:r>
            <a:r>
              <a:rPr sz="1000" b="1">
                <a:solidFill>
                  <a:srgbClr val="111827"/>
                </a:solidFill>
                <a:latin typeface="Inter"/>
              </a:rPr>
              <a:t>Conversion facilitée : </a:t>
            </a:r>
            <a:r>
              <a:rPr sz="1000">
                <a:solidFill>
                  <a:srgbClr val="111827"/>
                </a:solidFill>
                <a:latin typeface="Inter"/>
              </a:rPr>
              <a:t>Argument de vente décisif pour convaincre les prospects industriels de passer au Spot.</a:t>
            </a:r>
          </a:p>
          <a:p>
            <a:pPr>
              <a:spcBef>
                <a:spcPts val="200"/>
              </a:spcBef>
              <a:spcAft>
                <a:spcPts val="400"/>
              </a:spcAft>
            </a:pPr>
            <a:r>
              <a:rPr sz="1000">
                <a:solidFill>
                  <a:srgbClr val="0E8E9B"/>
                </a:solidFill>
                <a:latin typeface="Inter"/>
              </a:rPr>
              <a:t>•  </a:t>
            </a:r>
            <a:r>
              <a:rPr sz="1000" b="1">
                <a:solidFill>
                  <a:srgbClr val="111827"/>
                </a:solidFill>
                <a:latin typeface="Inter"/>
              </a:rPr>
              <a:t>Nouveau marché : </a:t>
            </a:r>
            <a:r>
              <a:rPr sz="1000">
                <a:solidFill>
                  <a:srgbClr val="111827"/>
                </a:solidFill>
                <a:latin typeface="Inter"/>
              </a:rPr>
              <a:t>Accès au froid industriel, un segment que Sobry ne peut pas adresser seul.</a:t>
            </a:r>
          </a:p>
          <a:p>
            <a:pPr>
              <a:spcBef>
                <a:spcPts val="200"/>
              </a:spcBef>
              <a:spcAft>
                <a:spcPts val="400"/>
              </a:spcAft>
            </a:pPr>
            <a:r>
              <a:rPr sz="1000">
                <a:solidFill>
                  <a:srgbClr val="0E8E9B"/>
                </a:solidFill>
                <a:latin typeface="Inter"/>
              </a:rPr>
              <a:t>•  </a:t>
            </a:r>
            <a:r>
              <a:rPr sz="1000" b="1">
                <a:solidFill>
                  <a:srgbClr val="111827"/>
                </a:solidFill>
                <a:latin typeface="Inter"/>
              </a:rPr>
              <a:t>Crédibilité terrain : </a:t>
            </a:r>
            <a:r>
              <a:rPr sz="1000">
                <a:solidFill>
                  <a:srgbClr val="111827"/>
                </a:solidFill>
                <a:latin typeface="Inter"/>
              </a:rPr>
              <a:t>Altileo a déjà un partenaire opérationnel à Rungis. Le pilote existe, il tourne.</a:t>
            </a:r>
          </a:p>
        </p:txBody>
      </p:sp>
      <p:sp>
        <p:nvSpPr>
          <p:cNvPr id="6" name="TextBox 5"/>
          <p:cNvSpPr txBox="1"/>
          <p:nvPr/>
        </p:nvSpPr>
        <p:spPr>
          <a:xfrm>
            <a:off x="4846320" y="1097280"/>
            <a:ext cx="4114800" cy="274320"/>
          </a:xfrm>
          <a:prstGeom prst="rect">
            <a:avLst/>
          </a:prstGeom>
          <a:noFill/>
        </p:spPr>
        <p:txBody>
          <a:bodyPr wrap="square">
            <a:spAutoFit/>
          </a:bodyPr>
          <a:lstStyle/>
          <a:p>
            <a:pPr algn="l">
              <a:defRPr sz="1200" b="1" i="0">
                <a:solidFill>
                  <a:srgbClr val="0F3D62"/>
                </a:solidFill>
                <a:latin typeface="Inter"/>
              </a:defRPr>
            </a:pPr>
            <a:r>
              <a:t>Rétention et satisfaction client</a:t>
            </a:r>
          </a:p>
        </p:txBody>
      </p:sp>
      <p:sp>
        <p:nvSpPr>
          <p:cNvPr id="7" name="TextBox 6"/>
          <p:cNvSpPr txBox="1"/>
          <p:nvPr/>
        </p:nvSpPr>
        <p:spPr>
          <a:xfrm>
            <a:off x="4846320" y="1371600"/>
            <a:ext cx="3931920" cy="1828800"/>
          </a:xfrm>
          <a:prstGeom prst="rect">
            <a:avLst/>
          </a:prstGeom>
          <a:noFill/>
        </p:spPr>
        <p:txBody>
          <a:bodyPr wrap="square">
            <a:spAutoFit/>
          </a:bodyPr>
          <a:lstStyle/>
          <a:p>
            <a:pPr>
              <a:spcBef>
                <a:spcPts val="200"/>
              </a:spcBef>
              <a:spcAft>
                <a:spcPts val="400"/>
              </a:spcAft>
            </a:pPr>
            <a:r>
              <a:rPr sz="1000">
                <a:solidFill>
                  <a:srgbClr val="0E8E9B"/>
                </a:solidFill>
                <a:latin typeface="Inter"/>
              </a:rPr>
              <a:t>•  </a:t>
            </a:r>
            <a:r>
              <a:rPr sz="1000" b="1">
                <a:solidFill>
                  <a:srgbClr val="111827"/>
                </a:solidFill>
                <a:latin typeface="Inter"/>
              </a:rPr>
              <a:t>Fidélisation : </a:t>
            </a:r>
            <a:r>
              <a:rPr sz="1000">
                <a:solidFill>
                  <a:srgbClr val="111827"/>
                </a:solidFill>
                <a:latin typeface="Inter"/>
              </a:rPr>
              <a:t>Le combo contrat Spot + Altileo Box crée une double attache : le client reste plus longtemps.</a:t>
            </a:r>
          </a:p>
          <a:p>
            <a:pPr>
              <a:spcBef>
                <a:spcPts val="200"/>
              </a:spcBef>
              <a:spcAft>
                <a:spcPts val="400"/>
              </a:spcAft>
            </a:pPr>
            <a:r>
              <a:rPr sz="1000">
                <a:solidFill>
                  <a:srgbClr val="0E8E9B"/>
                </a:solidFill>
                <a:latin typeface="Inter"/>
              </a:rPr>
              <a:t>•  </a:t>
            </a:r>
            <a:r>
              <a:rPr sz="1000" b="1">
                <a:solidFill>
                  <a:srgbClr val="111827"/>
                </a:solidFill>
                <a:latin typeface="Inter"/>
              </a:rPr>
              <a:t>Satisfaction : </a:t>
            </a:r>
            <a:r>
              <a:rPr sz="1000">
                <a:solidFill>
                  <a:srgbClr val="111827"/>
                </a:solidFill>
                <a:latin typeface="Inter"/>
              </a:rPr>
              <a:t>Le client voit sa facture baisser significativement (jusqu'à 35 % net sur notre pilote).</a:t>
            </a:r>
          </a:p>
          <a:p>
            <a:pPr>
              <a:spcBef>
                <a:spcPts val="200"/>
              </a:spcBef>
              <a:spcAft>
                <a:spcPts val="400"/>
              </a:spcAft>
            </a:pPr>
            <a:r>
              <a:rPr sz="1000">
                <a:solidFill>
                  <a:srgbClr val="0E8E9B"/>
                </a:solidFill>
                <a:latin typeface="Inter"/>
              </a:rPr>
              <a:t>•  </a:t>
            </a:r>
            <a:r>
              <a:rPr sz="1000" b="1">
                <a:solidFill>
                  <a:srgbClr val="111827"/>
                </a:solidFill>
                <a:latin typeface="Inter"/>
              </a:rPr>
              <a:t>Durée de vie : </a:t>
            </a:r>
            <a:r>
              <a:rPr sz="1000">
                <a:solidFill>
                  <a:srgbClr val="111827"/>
                </a:solidFill>
                <a:latin typeface="Inter"/>
              </a:rPr>
              <a:t>Le compresseur est moins sollicité (5 à 6h de repos/jour), ce qui allonge sa durée de vie.</a:t>
            </a:r>
          </a:p>
          <a:p>
            <a:pPr>
              <a:spcBef>
                <a:spcPts val="200"/>
              </a:spcBef>
              <a:spcAft>
                <a:spcPts val="400"/>
              </a:spcAft>
            </a:pPr>
            <a:r>
              <a:rPr sz="1000">
                <a:solidFill>
                  <a:srgbClr val="0E8E9B"/>
                </a:solidFill>
                <a:latin typeface="Inter"/>
              </a:rPr>
              <a:t>•  </a:t>
            </a:r>
            <a:r>
              <a:rPr sz="1000" b="1">
                <a:solidFill>
                  <a:srgbClr val="111827"/>
                </a:solidFill>
                <a:latin typeface="Inter"/>
              </a:rPr>
              <a:t>Transparence : </a:t>
            </a:r>
            <a:r>
              <a:rPr sz="1000">
                <a:solidFill>
                  <a:srgbClr val="111827"/>
                </a:solidFill>
                <a:latin typeface="Inter"/>
              </a:rPr>
              <a:t>Dashboard de suivi en temps réel (températures, conso, économies).</a:t>
            </a:r>
          </a:p>
        </p:txBody>
      </p:sp>
      <p:sp>
        <p:nvSpPr>
          <p:cNvPr id="8" name="Rectangle 7"/>
          <p:cNvSpPr/>
          <p:nvPr/>
        </p:nvSpPr>
        <p:spPr>
          <a:xfrm>
            <a:off x="457200" y="3017520"/>
            <a:ext cx="822960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35808"/>
            <a:ext cx="7863840" cy="182880"/>
          </a:xfrm>
          <a:prstGeom prst="rect">
            <a:avLst/>
          </a:prstGeom>
          <a:noFill/>
        </p:spPr>
        <p:txBody>
          <a:bodyPr wrap="square">
            <a:spAutoFit/>
          </a:bodyPr>
          <a:lstStyle/>
          <a:p>
            <a:pPr algn="l">
              <a:defRPr sz="1000" b="1" i="0">
                <a:solidFill>
                  <a:srgbClr val="0F3D62"/>
                </a:solidFill>
                <a:latin typeface="Inter"/>
              </a:defRPr>
            </a:pPr>
            <a:r>
              <a:t>Proposition concrète pour démarrer :</a:t>
            </a:r>
          </a:p>
        </p:txBody>
      </p:sp>
      <p:sp>
        <p:nvSpPr>
          <p:cNvPr id="10" name="TextBox 9"/>
          <p:cNvSpPr txBox="1"/>
          <p:nvPr/>
        </p:nvSpPr>
        <p:spPr>
          <a:xfrm>
            <a:off x="640080" y="3246120"/>
            <a:ext cx="7863840" cy="274320"/>
          </a:xfrm>
          <a:prstGeom prst="rect">
            <a:avLst/>
          </a:prstGeom>
          <a:noFill/>
        </p:spPr>
        <p:txBody>
          <a:bodyPr wrap="square">
            <a:spAutoFit/>
          </a:bodyPr>
          <a:lstStyle/>
          <a:p>
            <a:pPr algn="l">
              <a:defRPr sz="950" b="0" i="0">
                <a:solidFill>
                  <a:srgbClr val="111827"/>
                </a:solidFill>
                <a:latin typeface="Inter"/>
              </a:defRPr>
            </a:pPr>
            <a:r>
              <a:t>Identifier ensemble 2 à 3 prospects Sobry avec des installations frigorifiques. Altileo réalise les audits gratuitement. On valide le modèle sur ces premiers cas concrets.</a:t>
            </a:r>
          </a:p>
        </p:txBody>
      </p:sp>
      <p:sp>
        <p:nvSpPr>
          <p:cNvPr id="11" name="Rectangle 10"/>
          <p:cNvSpPr/>
          <p:nvPr/>
        </p:nvSpPr>
        <p:spPr>
          <a:xfrm>
            <a:off x="457200" y="3703320"/>
            <a:ext cx="8229600" cy="914400"/>
          </a:xfrm>
          <a:prstGeom prst="rect">
            <a:avLst/>
          </a:prstGeom>
          <a:solidFill>
            <a:srgbClr val="0E8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749039"/>
            <a:ext cx="7863840" cy="182880"/>
          </a:xfrm>
          <a:prstGeom prst="rect">
            <a:avLst/>
          </a:prstGeom>
          <a:noFill/>
        </p:spPr>
        <p:txBody>
          <a:bodyPr wrap="square">
            <a:spAutoFit/>
          </a:bodyPr>
          <a:lstStyle/>
          <a:p>
            <a:pPr algn="l">
              <a:defRPr sz="1200" b="1" i="0">
                <a:solidFill>
                  <a:srgbClr val="FFFFFF"/>
                </a:solidFill>
                <a:latin typeface="Inter"/>
              </a:defRPr>
            </a:pPr>
            <a:r>
              <a:t>En résumé</a:t>
            </a:r>
          </a:p>
        </p:txBody>
      </p:sp>
      <p:sp>
        <p:nvSpPr>
          <p:cNvPr id="13" name="TextBox 12"/>
          <p:cNvSpPr txBox="1"/>
          <p:nvPr/>
        </p:nvSpPr>
        <p:spPr>
          <a:xfrm>
            <a:off x="640080" y="3977639"/>
            <a:ext cx="7863840" cy="594360"/>
          </a:xfrm>
          <a:prstGeom prst="rect">
            <a:avLst/>
          </a:prstGeom>
          <a:noFill/>
        </p:spPr>
        <p:txBody>
          <a:bodyPr wrap="square">
            <a:spAutoFit/>
          </a:bodyPr>
          <a:lstStyle/>
          <a:p>
            <a:pPr algn="l">
              <a:defRPr sz="1000" b="0" i="0">
                <a:solidFill>
                  <a:srgbClr val="FFFFFF"/>
                </a:solidFill>
                <a:latin typeface="Inter"/>
              </a:defRPr>
            </a:pPr>
            <a:r>
              <a:t>Vos clients industriels ne peuvent pas profiter du Spot parce que leurs installations ne sont pas pilotables. Nous savons les rendre pilotables — on l'a prouvé. On vous propose d'ajouter l'audit Altileo dans votre boîte à outils commerciale. Vous nous envoyez les prospects, on instrumente, on mesure, et si c'est viable on installe. Vous signez le contrat Spot, nous on signe le SaaS, vous touchez 5 %. Chacun son métier.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Altileo — Proposition pilote</dc:title>
  <dc:subject>PptxGenJS Presentation</dc:subject>
  <dc:creator>Altileo</dc:creator>
  <cp:lastModifiedBy>Altileo</cp:lastModifiedBy>
  <cp:revision>1</cp:revision>
  <dcterms:created xsi:type="dcterms:W3CDTF">2026-06-22T14:05:20Z</dcterms:created>
  <dcterms:modified xsi:type="dcterms:W3CDTF">2026-06-22T14:05:20Z</dcterms:modified>
</cp:coreProperties>
</file>